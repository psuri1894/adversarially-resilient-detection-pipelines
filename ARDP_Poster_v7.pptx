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21383625" cy="302402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461" y="-360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384000" cy="302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384000" cy="2880000"/>
          </a:xfrm>
          <a:prstGeom prst="rect">
            <a:avLst/>
          </a:prstGeom>
          <a:solidFill>
            <a:srgbClr val="00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754001"/>
            <a:ext cx="21384000" cy="12599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162000"/>
            <a:ext cx="1116000" cy="111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40000" y="198000"/>
            <a:ext cx="19728001" cy="12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 dirty="0" err="1">
                <a:solidFill>
                  <a:srgbClr val="FFFFFF"/>
                </a:solidFill>
                <a:latin typeface="Calibri"/>
              </a:rPr>
              <a:t>Adversarially</a:t>
            </a:r>
            <a:r>
              <a:rPr sz="4800" b="1" dirty="0">
                <a:solidFill>
                  <a:srgbClr val="FFFFFF"/>
                </a:solidFill>
                <a:latin typeface="Calibri"/>
              </a:rPr>
              <a:t> Resilient Detection Pipelines (ARDP)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072560"/>
            <a:ext cx="1717636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 dirty="0">
                <a:solidFill>
                  <a:srgbClr val="F5A623"/>
                </a:solidFill>
                <a:latin typeface="Calibri"/>
              </a:rPr>
              <a:t>School of Computer Science and Engineering </a:t>
            </a:r>
            <a:r>
              <a:rPr lang="en-US" sz="4400" b="1" dirty="0">
                <a:solidFill>
                  <a:srgbClr val="F5A623"/>
                </a:solidFill>
                <a:latin typeface="Calibri"/>
              </a:rPr>
              <a:t>-</a:t>
            </a:r>
            <a:r>
              <a:rPr sz="4400" b="1" dirty="0">
                <a:solidFill>
                  <a:srgbClr val="F5A623"/>
                </a:solidFill>
                <a:latin typeface="Calibri"/>
              </a:rPr>
              <a:t> Winter Semester 2025</a:t>
            </a:r>
            <a:r>
              <a:rPr lang="en-US" sz="4400" b="1" dirty="0">
                <a:solidFill>
                  <a:srgbClr val="F5A623"/>
                </a:solidFill>
                <a:latin typeface="Calibri"/>
              </a:rPr>
              <a:t>-</a:t>
            </a:r>
            <a:r>
              <a:rPr sz="4400" b="1" dirty="0">
                <a:solidFill>
                  <a:srgbClr val="F5A623"/>
                </a:solidFill>
                <a:latin typeface="Calibr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000" y="1998000"/>
            <a:ext cx="1789970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i="1" dirty="0">
                <a:solidFill>
                  <a:srgbClr val="C5D8FF"/>
                </a:solidFill>
                <a:latin typeface="Calibri"/>
              </a:rPr>
              <a:t>Self-healing SOC Pipeline </a:t>
            </a:r>
            <a:r>
              <a:rPr lang="en-US" sz="2200" i="1" dirty="0">
                <a:solidFill>
                  <a:srgbClr val="C5D8FF"/>
                </a:solidFill>
                <a:latin typeface="Calibri"/>
              </a:rPr>
              <a:t> </a:t>
            </a:r>
            <a:r>
              <a:rPr lang="en-IN" sz="2200" i="1" dirty="0">
                <a:solidFill>
                  <a:srgbClr val="C5D8FF"/>
                </a:solidFill>
              </a:rPr>
              <a:t>·</a:t>
            </a:r>
            <a:r>
              <a:rPr sz="2200" i="1" dirty="0">
                <a:solidFill>
                  <a:srgbClr val="C5D8FF"/>
                </a:solidFill>
                <a:latin typeface="Calibri"/>
              </a:rPr>
              <a:t>  Adversarial Training  ·  Certified Conformal Prediction  ·  SHAP Fingerprinting  ·  Adaptive Drift Handling  ·  Risk Thermostat FSM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74000" y="3005999"/>
            <a:ext cx="36000" cy="26082001"/>
          </a:xfrm>
          <a:prstGeom prst="rect">
            <a:avLst/>
          </a:prstGeom>
          <a:solidFill>
            <a:srgbClr val="CCD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96000" y="3005999"/>
            <a:ext cx="10170000" cy="324000"/>
          </a:xfrm>
          <a:prstGeom prst="rect">
            <a:avLst/>
          </a:prstGeom>
          <a:solidFill>
            <a:srgbClr val="00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3394799"/>
            <a:ext cx="10098000" cy="760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400">
                <a:solidFill>
                  <a:srgbClr val="1A1A2E"/>
                </a:solidFill>
                <a:latin typeface="Calibri"/>
              </a:rPr>
              <a:t>▸  Security Operations Centres (SOCs) increasingly deploy ML-based anomaly detectors to handle 10,000+ network events per second, yet these systems remain fundamentally brittle under adversarial pressure, threatening enterprise security at scale.</a:t>
            </a:r>
          </a:p>
          <a:p>
            <a:pPr>
              <a:spcBef>
                <a:spcPts val="400"/>
              </a:spcBef>
            </a:pPr>
            <a:r>
              <a:rPr sz="2400">
                <a:solidFill>
                  <a:srgbClr val="1A1A2E"/>
                </a:solidFill>
                <a:latin typeface="Calibri"/>
              </a:rPr>
              <a:t>▸  Adversarial Evasion: gradient-based attacks (PGD, FGSM, C&amp;W) craft malicious network traffic that crosses decision boundaries while remaining within an ε-bounded perturbation ball, evading detection without human-visible traffic changes.</a:t>
            </a:r>
          </a:p>
          <a:p>
            <a:pPr>
              <a:spcBef>
                <a:spcPts val="400"/>
              </a:spcBef>
            </a:pPr>
            <a:r>
              <a:rPr sz="2400">
                <a:solidFill>
                  <a:srgbClr val="1A1A2E"/>
                </a:solidFill>
                <a:latin typeface="Calibri"/>
              </a:rPr>
              <a:t>▸  Data Poisoning: label-flip and GAN-based backdoor attacks silently degrade model quality during scheduled retraining cycles, bypassing standard anomaly checks and poisoning future decisions without triggering immediate alarms.</a:t>
            </a:r>
          </a:p>
          <a:p>
            <a:pPr>
              <a:spcBef>
                <a:spcPts val="400"/>
              </a:spcBef>
            </a:pPr>
            <a:r>
              <a:rPr sz="2400">
                <a:solidFill>
                  <a:srgbClr val="1A1A2E"/>
                </a:solidFill>
                <a:latin typeface="Calibri"/>
              </a:rPr>
              <a:t>▸  Concept Drift: real-world network behaviour evolves continuously; without adaptation, detection accuracy erodes week-by-week as traffic patterns diverge from the training distribution.</a:t>
            </a:r>
          </a:p>
          <a:p>
            <a:pPr>
              <a:spcBef>
                <a:spcPts val="400"/>
              </a:spcBef>
            </a:pPr>
            <a:r>
              <a:rPr sz="2400">
                <a:solidFill>
                  <a:srgbClr val="1A1A2E"/>
                </a:solidFill>
                <a:latin typeface="Calibri"/>
              </a:rPr>
              <a:t>▸  The three threats are correlated; adversarial evasion is easier when models have drifted or been poisoned, creating compounding failure modes that conventional point-solutions cannot address in isolation.</a:t>
            </a:r>
          </a:p>
          <a:p>
            <a:pPr>
              <a:spcBef>
                <a:spcPts val="400"/>
              </a:spcBef>
            </a:pPr>
            <a:r>
              <a:rPr sz="2400">
                <a:solidFill>
                  <a:srgbClr val="1A1A2E"/>
                </a:solidFill>
                <a:latin typeface="Calibri"/>
              </a:rPr>
              <a:t>▸  ARDP is the first unified 7-layer pipeline to address all three threats simultaneously, providing formal per-layer certified guarantees and a self-healing feedback loop.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11184239"/>
            <a:ext cx="10170000" cy="324000"/>
          </a:xfrm>
          <a:prstGeom prst="rect">
            <a:avLst/>
          </a:prstGeom>
          <a:solidFill>
            <a:srgbClr val="00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Motivation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000" y="11573039"/>
            <a:ext cx="10098000" cy="6365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300" dirty="0">
                <a:solidFill>
                  <a:srgbClr val="1A1A2E"/>
                </a:solidFill>
                <a:latin typeface="Calibri"/>
              </a:rPr>
              <a:t>▸  Adversarial training (PGD-AT / TRADES / Free-AT) substantially boosts robustness but provides no uncertainty quantification; predictions remain hard, uncalibrated, and uncertified.</a:t>
            </a:r>
          </a:p>
          <a:p>
            <a:pPr>
              <a:spcBef>
                <a:spcPts val="400"/>
              </a:spcBef>
            </a:pPr>
            <a:r>
              <a:rPr sz="2300" dirty="0">
                <a:solidFill>
                  <a:srgbClr val="1A1A2E"/>
                </a:solidFill>
                <a:latin typeface="Calibri"/>
              </a:rPr>
              <a:t>▸  Conformal prediction (RAPS, RSCP) offers distribution-free coverage guarantees but breaks under adversarial input shifts; it assumes clean, in-distribution test examples.</a:t>
            </a:r>
          </a:p>
          <a:p>
            <a:pPr>
              <a:spcBef>
                <a:spcPts val="400"/>
              </a:spcBef>
            </a:pPr>
            <a:r>
              <a:rPr sz="2300" dirty="0">
                <a:solidFill>
                  <a:srgbClr val="1A1A2E"/>
                </a:solidFill>
                <a:latin typeface="Calibri"/>
              </a:rPr>
              <a:t>▸  Concept-drift detectors (ADWIN, Page-Hinkley) trigger retraining on distribution change but are blind to adversarial contamination of the retraining stream itself.</a:t>
            </a:r>
          </a:p>
          <a:p>
            <a:pPr>
              <a:spcBef>
                <a:spcPts val="400"/>
              </a:spcBef>
            </a:pPr>
            <a:r>
              <a:rPr sz="2300" dirty="0">
                <a:solidFill>
                  <a:srgbClr val="1A1A2E"/>
                </a:solidFill>
                <a:latin typeface="Calibri"/>
              </a:rPr>
              <a:t>▸  Industry gap: no enterprise IDS product currently delivers certified adversarial robustness alongside adaptive retraining and uncertainty-aware predictions under a single framework.</a:t>
            </a:r>
          </a:p>
          <a:p>
            <a:pPr>
              <a:spcBef>
                <a:spcPts val="400"/>
              </a:spcBef>
            </a:pPr>
            <a:r>
              <a:rPr sz="2300" dirty="0">
                <a:solidFill>
                  <a:srgbClr val="1A1A2E"/>
                </a:solidFill>
                <a:latin typeface="Calibri"/>
              </a:rPr>
              <a:t>▸  Academic gap: certified </a:t>
            </a:r>
            <a:r>
              <a:rPr sz="2300" dirty="0" err="1">
                <a:solidFill>
                  <a:srgbClr val="1A1A2E"/>
                </a:solidFill>
                <a:latin typeface="Calibri"/>
              </a:rPr>
              <a:t>defences</a:t>
            </a:r>
            <a:r>
              <a:rPr sz="2300" dirty="0">
                <a:solidFill>
                  <a:srgbClr val="1A1A2E"/>
                </a:solidFill>
                <a:latin typeface="Calibri"/>
              </a:rPr>
              <a:t> such as RSCP and RAPS have been validated exclusively on image classifiers; ARDP is the first adaptation to high-dimensional network-flow features with real adversarial-traffic datasets.</a:t>
            </a:r>
          </a:p>
          <a:p>
            <a:pPr>
              <a:spcBef>
                <a:spcPts val="400"/>
              </a:spcBef>
            </a:pPr>
            <a:r>
              <a:rPr sz="2300" dirty="0">
                <a:solidFill>
                  <a:srgbClr val="1A1A2E"/>
                </a:solidFill>
                <a:latin typeface="Calibri"/>
              </a:rPr>
              <a:t>▸  ARDP fills the trilemma (robustness, calibration, adaptability) with end-to-end formal guarantees, a self-healing retraining loop, and a production-grade deployment stack.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6000" y="17945159"/>
            <a:ext cx="10170000" cy="324000"/>
          </a:xfrm>
          <a:prstGeom prst="rect">
            <a:avLst/>
          </a:prstGeom>
          <a:solidFill>
            <a:srgbClr val="00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Scope of the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000" y="18333959"/>
            <a:ext cx="10098000" cy="6011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300" dirty="0">
                <a:solidFill>
                  <a:srgbClr val="1A1A2E"/>
                </a:solidFill>
                <a:latin typeface="Calibri"/>
              </a:rPr>
              <a:t>▸  Dataset: CIC-IDS2018 with 2.8 M labelled flows, 80 engineered features, 16 attack categories covering DoS, DDoS, Brute-Force, Infiltration, Botnet, Web, and </a:t>
            </a:r>
            <a:r>
              <a:rPr sz="2300" dirty="0" err="1">
                <a:solidFill>
                  <a:srgbClr val="1A1A2E"/>
                </a:solidFill>
                <a:latin typeface="Calibri"/>
              </a:rPr>
              <a:t>Portscan</a:t>
            </a:r>
            <a:r>
              <a:rPr sz="2300" dirty="0">
                <a:solidFill>
                  <a:srgbClr val="1A1A2E"/>
                </a:solidFill>
                <a:latin typeface="Calibri"/>
              </a:rPr>
              <a:t> traffic.</a:t>
            </a:r>
          </a:p>
          <a:p>
            <a:pPr>
              <a:spcBef>
                <a:spcPts val="400"/>
              </a:spcBef>
            </a:pPr>
            <a:r>
              <a:rPr sz="2300" dirty="0">
                <a:solidFill>
                  <a:srgbClr val="1A1A2E"/>
                </a:solidFill>
                <a:latin typeface="Calibri"/>
              </a:rPr>
              <a:t>▸  Attack coverage: 15+ adversarial attack types across 5 families: white-box (PGD, FGSM, C&amp;W), black-box (ZOO, boundary), physical (replay, traffic morphing), poisoning (label-flip, backdoor), and generative (GAN-based evasion).</a:t>
            </a:r>
          </a:p>
          <a:p>
            <a:pPr>
              <a:spcBef>
                <a:spcPts val="400"/>
              </a:spcBef>
            </a:pPr>
            <a:r>
              <a:rPr sz="2300" dirty="0">
                <a:solidFill>
                  <a:srgbClr val="1A1A2E"/>
                </a:solidFill>
                <a:latin typeface="Calibri"/>
              </a:rPr>
              <a:t>▸  Formal certified radius r* derived via RSCP+ </a:t>
            </a:r>
            <a:r>
              <a:rPr sz="2300" dirty="0" err="1">
                <a:solidFill>
                  <a:srgbClr val="1A1A2E"/>
                </a:solidFill>
                <a:latin typeface="Calibri"/>
              </a:rPr>
              <a:t>randomised</a:t>
            </a:r>
            <a:r>
              <a:rPr sz="2300" dirty="0">
                <a:solidFill>
                  <a:srgbClr val="1A1A2E"/>
                </a:solidFill>
                <a:latin typeface="Calibri"/>
              </a:rPr>
              <a:t> smoothing; guarantees P(Y ∈ C(</a:t>
            </a:r>
            <a:r>
              <a:rPr sz="2300" dirty="0" err="1">
                <a:solidFill>
                  <a:srgbClr val="1A1A2E"/>
                </a:solidFill>
                <a:latin typeface="Calibri"/>
              </a:rPr>
              <a:t>X_adv</a:t>
            </a:r>
            <a:r>
              <a:rPr sz="2300" dirty="0">
                <a:solidFill>
                  <a:srgbClr val="1A1A2E"/>
                </a:solidFill>
                <a:latin typeface="Calibri"/>
              </a:rPr>
              <a:t>)) ≥ 1−α for all ‖δ‖₂ ≤ r*.</a:t>
            </a:r>
          </a:p>
          <a:p>
            <a:pPr>
              <a:spcBef>
                <a:spcPts val="400"/>
              </a:spcBef>
            </a:pPr>
            <a:r>
              <a:rPr sz="2300" dirty="0">
                <a:solidFill>
                  <a:srgbClr val="1A1A2E"/>
                </a:solidFill>
                <a:latin typeface="Calibri"/>
              </a:rPr>
              <a:t>▸  Real-time SOC dashboard: React + WebSocket frontend with live SHAP attribution heatmaps, per-flow prediction sets, drift status indicators, and risk-level thermostat display.</a:t>
            </a:r>
          </a:p>
          <a:p>
            <a:pPr>
              <a:spcBef>
                <a:spcPts val="400"/>
              </a:spcBef>
            </a:pPr>
            <a:r>
              <a:rPr sz="2300" dirty="0">
                <a:solidFill>
                  <a:srgbClr val="1A1A2E"/>
                </a:solidFill>
                <a:latin typeface="Calibri"/>
              </a:rPr>
              <a:t>▸  REST + WebSocket API (</a:t>
            </a:r>
            <a:r>
              <a:rPr sz="2300" dirty="0" err="1">
                <a:solidFill>
                  <a:srgbClr val="1A1A2E"/>
                </a:solidFill>
                <a:latin typeface="Calibri"/>
              </a:rPr>
              <a:t>OpenAPI</a:t>
            </a:r>
            <a:r>
              <a:rPr sz="2300" dirty="0">
                <a:solidFill>
                  <a:srgbClr val="1A1A2E"/>
                </a:solidFill>
                <a:latin typeface="Calibri"/>
              </a:rPr>
              <a:t> 3.0, JWT auth, rate-limiting) for third-party SOC integration; full </a:t>
            </a:r>
            <a:r>
              <a:rPr sz="2300" dirty="0" err="1">
                <a:solidFill>
                  <a:srgbClr val="1A1A2E"/>
                </a:solidFill>
                <a:latin typeface="Calibri"/>
              </a:rPr>
              <a:t>MLOps</a:t>
            </a:r>
            <a:r>
              <a:rPr sz="2300" dirty="0">
                <a:solidFill>
                  <a:srgbClr val="1A1A2E"/>
                </a:solidFill>
                <a:latin typeface="Calibri"/>
              </a:rPr>
              <a:t> pipeline with </a:t>
            </a:r>
            <a:r>
              <a:rPr sz="2300" dirty="0" err="1">
                <a:solidFill>
                  <a:srgbClr val="1A1A2E"/>
                </a:solidFill>
                <a:latin typeface="Calibri"/>
              </a:rPr>
              <a:t>MLflow</a:t>
            </a:r>
            <a:r>
              <a:rPr sz="2300" dirty="0">
                <a:solidFill>
                  <a:srgbClr val="1A1A2E"/>
                </a:solidFill>
                <a:latin typeface="Calibri"/>
              </a:rPr>
              <a:t> tracking, versioning, and rollback.</a:t>
            </a:r>
          </a:p>
          <a:p>
            <a:pPr>
              <a:spcBef>
                <a:spcPts val="400"/>
              </a:spcBef>
            </a:pPr>
            <a:r>
              <a:rPr sz="2300" dirty="0">
                <a:solidFill>
                  <a:srgbClr val="1A1A2E"/>
                </a:solidFill>
                <a:latin typeface="Calibri"/>
              </a:rPr>
              <a:t>▸  Live cloud deployment: AWS EC2 instance serving the full pipeline at http://107.22.150.51/ with median end-to-end latency 2.3 </a:t>
            </a:r>
            <a:r>
              <a:rPr sz="2300" dirty="0" err="1">
                <a:solidFill>
                  <a:srgbClr val="1A1A2E"/>
                </a:solidFill>
                <a:latin typeface="Calibri"/>
              </a:rPr>
              <a:t>ms</a:t>
            </a:r>
            <a:r>
              <a:rPr sz="2300" dirty="0">
                <a:solidFill>
                  <a:srgbClr val="1A1A2E"/>
                </a:solidFill>
                <a:latin typeface="Calibri"/>
              </a:rPr>
              <a:t> / flow (P99: 8.1 </a:t>
            </a:r>
            <a:r>
              <a:rPr sz="2300" dirty="0" err="1">
                <a:solidFill>
                  <a:srgbClr val="1A1A2E"/>
                </a:solidFill>
                <a:latin typeface="Calibri"/>
              </a:rPr>
              <a:t>ms</a:t>
            </a:r>
            <a:r>
              <a:rPr sz="2300" dirty="0">
                <a:solidFill>
                  <a:srgbClr val="1A1A2E"/>
                </a:solidFill>
                <a:latin typeface="Calibri"/>
              </a:rPr>
              <a:t>) on a single CPU core.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6000" y="24233639"/>
            <a:ext cx="10170000" cy="324000"/>
          </a:xfrm>
          <a:prstGeom prst="rect">
            <a:avLst/>
          </a:prstGeom>
          <a:solidFill>
            <a:srgbClr val="00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Methodology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6000" y="24622439"/>
            <a:ext cx="10170000" cy="413999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dirty="0">
                <a:solidFill>
                  <a:srgbClr val="FFFFFF"/>
                </a:solidFill>
                <a:latin typeface="Calibri"/>
              </a:rPr>
              <a:t>L1  Data Layer  </a:t>
            </a:r>
            <a:r>
              <a:rPr sz="1400" dirty="0">
                <a:solidFill>
                  <a:srgbClr val="EEEEEE"/>
                </a:solidFill>
                <a:latin typeface="Calibri"/>
              </a:rPr>
              <a:t>Apache Kafka ingestion → </a:t>
            </a:r>
            <a:r>
              <a:rPr sz="1400" dirty="0" err="1">
                <a:solidFill>
                  <a:srgbClr val="EEEEEE"/>
                </a:solidFill>
                <a:latin typeface="Calibri"/>
              </a:rPr>
              <a:t>RobustScaler</a:t>
            </a:r>
            <a:r>
              <a:rPr sz="1400" dirty="0">
                <a:solidFill>
                  <a:srgbClr val="EEEEEE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EEEEEE"/>
                </a:solidFill>
                <a:latin typeface="Calibri"/>
              </a:rPr>
              <a:t>normalisation</a:t>
            </a:r>
            <a:r>
              <a:rPr sz="1400" dirty="0">
                <a:solidFill>
                  <a:srgbClr val="EEEEEE"/>
                </a:solidFill>
                <a:latin typeface="Calibri"/>
              </a:rPr>
              <a:t> → Temporal Feature Store with 1s / 10s / 60s sliding-window aggregations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6000" y="25079638"/>
            <a:ext cx="10170000" cy="413999"/>
          </a:xfrm>
          <a:prstGeom prst="rect">
            <a:avLst/>
          </a:prstGeom>
          <a:solidFill>
            <a:srgbClr val="00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L2  Detection Ensemble  </a:t>
            </a:r>
            <a:r>
              <a:rPr sz="1400">
                <a:solidFill>
                  <a:srgbClr val="EEEEEE"/>
                </a:solidFill>
                <a:latin typeface="Calibri"/>
              </a:rPr>
              <a:t>K = 4 heterogeneous models: XGBoost + 1D-CNN + TabTransformer + VAE-IDS  (bootstrap-diverse training; majority-vote + entropy aggregation)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6000" y="25536837"/>
            <a:ext cx="10170000" cy="413999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L3  Adversarial Training  </a:t>
            </a:r>
            <a:r>
              <a:rPr sz="1400">
                <a:solidFill>
                  <a:srgbClr val="EEEEEE"/>
                </a:solidFill>
                <a:latin typeface="Calibri"/>
              </a:rPr>
              <a:t>PGD-AT (ε = 0.1, 20 steps, ℓ∞)  ·  TRADES (β = 6, KL regulariser)  ·  Free-AT (replay buffer, 8 steps) — joint multi-attack training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6000" y="25994036"/>
            <a:ext cx="10170000" cy="413999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L4  RSCP+ Conformal  </a:t>
            </a:r>
            <a:r>
              <a:rPr sz="1400">
                <a:solidFill>
                  <a:srgbClr val="EEEEEE"/>
                </a:solidFill>
                <a:latin typeface="Calibri"/>
              </a:rPr>
              <a:t>Randomised-smoothing non-conformity scores → certified prediction sets (α = 0.05, σ = 0.1, M = 100 Monte Carlo samples); r* = σΦ⁻¹((1−α)/2)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6000" y="26451235"/>
            <a:ext cx="10170000" cy="413999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L5  SHAP Detector  </a:t>
            </a:r>
            <a:r>
              <a:rPr sz="1400">
                <a:solidFill>
                  <a:srgbClr val="EEEEEE"/>
                </a:solidFill>
                <a:latin typeface="Calibri"/>
              </a:rPr>
              <a:t>Attribution fingerprint a(x) = ‖φ(x) − μ_clean‖₂ / σ_clean; adversarial flag triggered when a(x) &gt; τ₀₉₅  (AUC = 0.94)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6000" y="26908434"/>
            <a:ext cx="10170000" cy="413999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L6  Drift &amp; Self-Healing  </a:t>
            </a:r>
            <a:r>
              <a:rPr sz="1400">
                <a:solidFill>
                  <a:srgbClr val="EEEEEE"/>
                </a:solidFill>
                <a:latin typeface="Calibri"/>
              </a:rPr>
              <a:t>ADWIN + Page-Hinkley + MMD consensus (≥2 / 3 detectors) → poison-filtered adaptive retraining + RSCP+ recalibration on clean stream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6000" y="27365633"/>
            <a:ext cx="10170000" cy="413999"/>
          </a:xfrm>
          <a:prstGeom prst="rect">
            <a:avLst/>
          </a:prstGeom>
          <a:solidFill>
            <a:srgbClr val="1E5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dirty="0">
                <a:solidFill>
                  <a:srgbClr val="FFFFFF"/>
                </a:solidFill>
                <a:latin typeface="Calibri"/>
              </a:rPr>
              <a:t>L7  Risk Thermostat FSM  </a:t>
            </a:r>
            <a:r>
              <a:rPr sz="1400" dirty="0">
                <a:solidFill>
                  <a:srgbClr val="EEEEEE"/>
                </a:solidFill>
                <a:latin typeface="Calibri"/>
              </a:rPr>
              <a:t>NORMAL → ELEVATED → CRISIS state machine modulates detection thresholds, conformal α, ensemble capacity, and automated incident-response playbooks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6000" y="27930832"/>
            <a:ext cx="10170000" cy="720000"/>
          </a:xfrm>
          <a:prstGeom prst="rect">
            <a:avLst/>
          </a:prstGeom>
          <a:solidFill>
            <a:srgbClr val="F0F4FA"/>
          </a:solidFill>
          <a:ln w="19050">
            <a:solidFill>
              <a:srgbClr val="003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00336B"/>
                </a:solidFill>
                <a:latin typeface="Calibri"/>
              </a:rPr>
              <a:t>Certified radius:  r* = σ · Φ⁻¹((1−α) / 2)     ⟹     P(Y ∈ C(X_adv)) ≥ 1−α     for all  ‖δ‖₂ ≤ r*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817999" y="3005999"/>
            <a:ext cx="10170000" cy="324000"/>
          </a:xfrm>
          <a:prstGeom prst="rect">
            <a:avLst/>
          </a:prstGeom>
          <a:solidFill>
            <a:srgbClr val="00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Key Results at a Glance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817999" y="3394799"/>
            <a:ext cx="1620000" cy="1152000"/>
          </a:xfrm>
          <a:prstGeom prst="rect">
            <a:avLst/>
          </a:prstGeom>
          <a:solidFill>
            <a:srgbClr val="F0F4FA"/>
          </a:solidFill>
          <a:ln w="19050">
            <a:solidFill>
              <a:srgbClr val="003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CC0000"/>
                </a:solidFill>
                <a:latin typeface="Calibri"/>
              </a:rPr>
              <a:t>≥ 95%</a:t>
            </a:r>
          </a:p>
          <a:p>
            <a:pPr algn="ctr"/>
            <a:r>
              <a:rPr sz="1300">
                <a:solidFill>
                  <a:srgbClr val="1A1A2E"/>
                </a:solidFill>
                <a:latin typeface="Calibri"/>
              </a:rPr>
              <a:t>Conformal
Coverage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527999" y="3394799"/>
            <a:ext cx="1620000" cy="1152000"/>
          </a:xfrm>
          <a:prstGeom prst="rect">
            <a:avLst/>
          </a:prstGeom>
          <a:solidFill>
            <a:srgbClr val="F0F4FA"/>
          </a:solidFill>
          <a:ln w="19050">
            <a:solidFill>
              <a:srgbClr val="003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00336B"/>
                </a:solidFill>
                <a:latin typeface="Calibri"/>
              </a:rPr>
              <a:t>≤ 5%</a:t>
            </a:r>
          </a:p>
          <a:p>
            <a:pPr algn="ctr"/>
            <a:r>
              <a:rPr sz="1300">
                <a:solidFill>
                  <a:srgbClr val="1A1A2E"/>
                </a:solidFill>
                <a:latin typeface="Calibri"/>
              </a:rPr>
              <a:t>Acc. Drop
@ ε = 0.1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237999" y="3394799"/>
            <a:ext cx="1620000" cy="1152000"/>
          </a:xfrm>
          <a:prstGeom prst="rect">
            <a:avLst/>
          </a:prstGeom>
          <a:solidFill>
            <a:srgbClr val="F0F4FA"/>
          </a:solidFill>
          <a:ln w="19050">
            <a:solidFill>
              <a:srgbClr val="003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1E8B4C"/>
                </a:solidFill>
                <a:latin typeface="Calibri"/>
              </a:rPr>
              <a:t>0.94</a:t>
            </a:r>
          </a:p>
          <a:p>
            <a:pPr algn="ctr"/>
            <a:r>
              <a:rPr sz="1300">
                <a:solidFill>
                  <a:srgbClr val="1A1A2E"/>
                </a:solidFill>
                <a:latin typeface="Calibri"/>
              </a:rPr>
              <a:t>SHAP Det.
AUC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947999" y="3394799"/>
            <a:ext cx="1620000" cy="1152000"/>
          </a:xfrm>
          <a:prstGeom prst="rect">
            <a:avLst/>
          </a:prstGeom>
          <a:solidFill>
            <a:srgbClr val="F0F4FA"/>
          </a:solidFill>
          <a:ln w="19050">
            <a:solidFill>
              <a:srgbClr val="003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007A87"/>
                </a:solidFill>
                <a:latin typeface="Calibri"/>
              </a:rPr>
              <a:t>−40%</a:t>
            </a:r>
          </a:p>
          <a:p>
            <a:pPr algn="ctr"/>
            <a:r>
              <a:rPr sz="1300">
                <a:solidFill>
                  <a:srgbClr val="1A1A2E"/>
                </a:solidFill>
                <a:latin typeface="Calibri"/>
              </a:rPr>
              <a:t>False Retrain
Triggers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657999" y="3394799"/>
            <a:ext cx="1620000" cy="1152000"/>
          </a:xfrm>
          <a:prstGeom prst="rect">
            <a:avLst/>
          </a:prstGeom>
          <a:solidFill>
            <a:srgbClr val="F0F4FA"/>
          </a:solidFill>
          <a:ln w="19050">
            <a:solidFill>
              <a:srgbClr val="003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6A0DAD"/>
                </a:solidFill>
                <a:latin typeface="Calibri"/>
              </a:rPr>
              <a:t>+18 pp</a:t>
            </a:r>
          </a:p>
          <a:p>
            <a:pPr algn="ctr"/>
            <a:r>
              <a:rPr sz="1300">
                <a:solidFill>
                  <a:srgbClr val="1A1A2E"/>
                </a:solidFill>
                <a:latin typeface="Calibri"/>
              </a:rPr>
              <a:t>vs. Best
Baseline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367999" y="3394799"/>
            <a:ext cx="1620000" cy="1152000"/>
          </a:xfrm>
          <a:prstGeom prst="rect">
            <a:avLst/>
          </a:prstGeom>
          <a:solidFill>
            <a:srgbClr val="F0F4FA"/>
          </a:solidFill>
          <a:ln w="19050">
            <a:solidFill>
              <a:srgbClr val="003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B86A00"/>
                </a:solidFill>
                <a:latin typeface="Calibri"/>
              </a:rPr>
              <a:t>12 K/s</a:t>
            </a:r>
          </a:p>
          <a:p>
            <a:pPr algn="ctr"/>
            <a:r>
              <a:rPr sz="1300">
                <a:solidFill>
                  <a:srgbClr val="1A1A2E"/>
                </a:solidFill>
                <a:latin typeface="Calibri"/>
              </a:rPr>
              <a:t>Flow
Throughput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817999" y="4708799"/>
            <a:ext cx="10170000" cy="324000"/>
          </a:xfrm>
          <a:prstGeom prst="rect">
            <a:avLst/>
          </a:prstGeom>
          <a:solidFill>
            <a:srgbClr val="00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Results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999" y="5097599"/>
            <a:ext cx="5004000" cy="45000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3999" y="5097599"/>
            <a:ext cx="5004000" cy="4500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817999" y="9651599"/>
            <a:ext cx="500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 dirty="0">
                <a:solidFill>
                  <a:srgbClr val="444455"/>
                </a:solidFill>
                <a:latin typeface="Calibri"/>
              </a:rPr>
              <a:t>Fig. 1: Clean vs. Robust Accuracy under PGD attack (ε = 0.1); ARDP dominates all baselines.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983999" y="9651599"/>
            <a:ext cx="500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444455"/>
                </a:solidFill>
                <a:latin typeface="Calibri"/>
              </a:rPr>
              <a:t>Fig. 2: Ablation study showing incremental gain per ARDP component on coverage and robust accuracy.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17999" y="10101599"/>
            <a:ext cx="1017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 dirty="0">
                <a:solidFill>
                  <a:srgbClr val="444455"/>
                </a:solidFill>
                <a:latin typeface="Calibri"/>
              </a:rPr>
              <a:t>Table 1: Robustness Benchmark on CIC-IDS2018 (ε = 0.1, ℓ∞-norm PGD attack)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817999" y="10407599"/>
            <a:ext cx="3864600" cy="234000"/>
          </a:xfrm>
          <a:prstGeom prst="rect">
            <a:avLst/>
          </a:prstGeom>
          <a:solidFill>
            <a:srgbClr val="00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  Metric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682599" y="10407599"/>
            <a:ext cx="1728900" cy="234000"/>
          </a:xfrm>
          <a:prstGeom prst="rect">
            <a:avLst/>
          </a:prstGeom>
          <a:solidFill>
            <a:srgbClr val="00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ARDP (Ours)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411499" y="10407599"/>
            <a:ext cx="1525500" cy="234000"/>
          </a:xfrm>
          <a:prstGeom prst="rect">
            <a:avLst/>
          </a:prstGeom>
          <a:solidFill>
            <a:srgbClr val="00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AT-Only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936999" y="10407599"/>
            <a:ext cx="1525500" cy="234000"/>
          </a:xfrm>
          <a:prstGeom prst="rect">
            <a:avLst/>
          </a:prstGeom>
          <a:solidFill>
            <a:srgbClr val="00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CP-Only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462499" y="10407599"/>
            <a:ext cx="1525500" cy="234000"/>
          </a:xfrm>
          <a:prstGeom prst="rect">
            <a:avLst/>
          </a:prstGeom>
          <a:solidFill>
            <a:srgbClr val="00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Baseline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817999" y="10641599"/>
            <a:ext cx="3864600" cy="2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  Clean Accuracy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682599" y="10641599"/>
            <a:ext cx="1728900" cy="234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A1A2E"/>
                </a:solidFill>
                <a:latin typeface="Calibri"/>
              </a:rPr>
              <a:t>97.3%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411499" y="10641599"/>
            <a:ext cx="1525500" cy="2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2E"/>
                </a:solidFill>
                <a:latin typeface="Calibri"/>
              </a:rPr>
              <a:t>96.8%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936999" y="10641599"/>
            <a:ext cx="1525500" cy="2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2E"/>
                </a:solidFill>
                <a:latin typeface="Calibri"/>
              </a:rPr>
              <a:t>95.1%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462499" y="10641599"/>
            <a:ext cx="1525500" cy="2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2E"/>
                </a:solidFill>
                <a:latin typeface="Calibri"/>
              </a:rPr>
              <a:t>94.2%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817999" y="10875599"/>
            <a:ext cx="3864600" cy="234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  Robust Acc. (PGD-∞)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4682599" y="10875599"/>
            <a:ext cx="1728900" cy="234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A1A2E"/>
                </a:solidFill>
                <a:latin typeface="Calibri"/>
              </a:rPr>
              <a:t>93.1%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411499" y="10875599"/>
            <a:ext cx="1525500" cy="234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2E"/>
                </a:solidFill>
                <a:latin typeface="Calibri"/>
              </a:rPr>
              <a:t>88.4%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7936999" y="10875599"/>
            <a:ext cx="1525500" cy="234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2E"/>
                </a:solidFill>
                <a:latin typeface="Calibri"/>
              </a:rPr>
              <a:t>72.3%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62499" y="10875599"/>
            <a:ext cx="1525500" cy="234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2E"/>
                </a:solidFill>
                <a:latin typeface="Calibri"/>
              </a:rPr>
              <a:t>55.6%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817999" y="11109599"/>
            <a:ext cx="3864600" cy="2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  Conformal Coverage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4682599" y="11109599"/>
            <a:ext cx="1728900" cy="234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A1A2E"/>
                </a:solidFill>
                <a:latin typeface="Calibri"/>
              </a:rPr>
              <a:t>95.4%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6411499" y="11109599"/>
            <a:ext cx="1525500" cy="2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2E"/>
                </a:solidFill>
                <a:latin typeface="Calibri"/>
              </a:rPr>
              <a:t>N/A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7936999" y="11109599"/>
            <a:ext cx="1525500" cy="2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2E"/>
                </a:solidFill>
                <a:latin typeface="Calibri"/>
              </a:rPr>
              <a:t>92.1%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62499" y="11109599"/>
            <a:ext cx="1525500" cy="2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2E"/>
                </a:solidFill>
                <a:latin typeface="Calibri"/>
              </a:rPr>
              <a:t>N/A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817999" y="11343599"/>
            <a:ext cx="3864600" cy="234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  SHAP Detector AUC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4682599" y="11343599"/>
            <a:ext cx="1728900" cy="234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A1A2E"/>
                </a:solidFill>
                <a:latin typeface="Calibri"/>
              </a:rPr>
              <a:t>0.94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411499" y="11343599"/>
            <a:ext cx="1525500" cy="234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2E"/>
                </a:solidFill>
                <a:latin typeface="Calibri"/>
              </a:rPr>
              <a:t>0.71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7936999" y="11343599"/>
            <a:ext cx="1525500" cy="234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2E"/>
                </a:solidFill>
                <a:latin typeface="Calibri"/>
              </a:rPr>
              <a:t>N/A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462499" y="11343599"/>
            <a:ext cx="1525500" cy="234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2E"/>
                </a:solidFill>
                <a:latin typeface="Calibri"/>
              </a:rPr>
              <a:t>0.61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817999" y="11577599"/>
            <a:ext cx="3864600" cy="2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  F1 Score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4682599" y="11577599"/>
            <a:ext cx="1728900" cy="234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A1A2E"/>
                </a:solidFill>
                <a:latin typeface="Calibri"/>
              </a:rPr>
              <a:t>0.972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411499" y="11577599"/>
            <a:ext cx="1525500" cy="2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2E"/>
                </a:solidFill>
                <a:latin typeface="Calibri"/>
              </a:rPr>
              <a:t>0.951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7936999" y="11577599"/>
            <a:ext cx="1525500" cy="2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2E"/>
                </a:solidFill>
                <a:latin typeface="Calibri"/>
              </a:rPr>
              <a:t>0.943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9462499" y="11577599"/>
            <a:ext cx="1525500" cy="2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2E"/>
                </a:solidFill>
                <a:latin typeface="Calibri"/>
              </a:rPr>
              <a:t>0.921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817999" y="11811599"/>
            <a:ext cx="3864600" cy="234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  Avg Pred-Set Size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4682599" y="11811599"/>
            <a:ext cx="1728900" cy="234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A1A2E"/>
                </a:solidFill>
                <a:latin typeface="Calibri"/>
              </a:rPr>
              <a:t>1.12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411499" y="11811599"/>
            <a:ext cx="1525500" cy="234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2E"/>
                </a:solidFill>
                <a:latin typeface="Calibri"/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7936999" y="11811599"/>
            <a:ext cx="1525500" cy="234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2E"/>
                </a:solidFill>
                <a:latin typeface="Calibri"/>
              </a:rPr>
              <a:t>1.47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462499" y="11811599"/>
            <a:ext cx="1525500" cy="234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2E"/>
                </a:solidFill>
                <a:latin typeface="Calibri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817999" y="12045599"/>
            <a:ext cx="3864600" cy="2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  Throughput (flows/s)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4682599" y="12045599"/>
            <a:ext cx="1728900" cy="234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A1A2E"/>
                </a:solidFill>
                <a:latin typeface="Calibri"/>
              </a:rPr>
              <a:t>12,000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6411499" y="12045599"/>
            <a:ext cx="1525500" cy="2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2E"/>
                </a:solidFill>
                <a:latin typeface="Calibri"/>
              </a:rPr>
              <a:t>11,400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7936999" y="12045599"/>
            <a:ext cx="1525500" cy="2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2E"/>
                </a:solidFill>
                <a:latin typeface="Calibri"/>
              </a:rPr>
              <a:t>9,800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9462499" y="12045599"/>
            <a:ext cx="1525500" cy="2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1A1A2E"/>
                </a:solidFill>
                <a:latin typeface="Calibri"/>
              </a:rPr>
              <a:t>14,200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817999" y="12441599"/>
            <a:ext cx="10170000" cy="324000"/>
          </a:xfrm>
          <a:prstGeom prst="rect">
            <a:avLst/>
          </a:prstGeom>
          <a:solidFill>
            <a:srgbClr val="00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Hyperparameter Configuration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817999" y="12830399"/>
            <a:ext cx="10170000" cy="216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00336B"/>
                </a:solidFill>
                <a:latin typeface="Calibri"/>
              </a:rPr>
              <a:t>  Ensemble K: </a:t>
            </a:r>
            <a:r>
              <a:rPr sz="1800">
                <a:solidFill>
                  <a:srgbClr val="1A1A2E"/>
                </a:solidFill>
                <a:latin typeface="Calibri"/>
              </a:rPr>
              <a:t>4  (XGBoost · 1D-CNN · TabTransformer · VAE-IDS)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817999" y="13060799"/>
            <a:ext cx="10170000" cy="2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00336B"/>
                </a:solidFill>
                <a:latin typeface="Calibri"/>
              </a:rPr>
              <a:t>  Conformal α: </a:t>
            </a:r>
            <a:r>
              <a:rPr sz="1800">
                <a:solidFill>
                  <a:srgbClr val="1A1A2E"/>
                </a:solidFill>
                <a:latin typeface="Calibri"/>
              </a:rPr>
              <a:t>0.05  →  ≥95% certified marginal coverage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817999" y="13291199"/>
            <a:ext cx="10170000" cy="216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00336B"/>
                </a:solidFill>
                <a:latin typeface="Calibri"/>
              </a:rPr>
              <a:t>  RSCP+ σ / M: </a:t>
            </a:r>
            <a:r>
              <a:rPr sz="1800">
                <a:solidFill>
                  <a:srgbClr val="1A1A2E"/>
                </a:solidFill>
                <a:latin typeface="Calibri"/>
              </a:rPr>
              <a:t>0.1  /  100 Monte Carlo smoothing samples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817999" y="13521599"/>
            <a:ext cx="10170000" cy="2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00336B"/>
                </a:solidFill>
                <a:latin typeface="Calibri"/>
              </a:rPr>
              <a:t>  PGD-AT ε / steps: </a:t>
            </a:r>
            <a:r>
              <a:rPr sz="1800">
                <a:solidFill>
                  <a:srgbClr val="1A1A2E"/>
                </a:solidFill>
                <a:latin typeface="Calibri"/>
              </a:rPr>
              <a:t>0.1  /  20  (ℓ∞ norm)  ·  TRADES β = 6.0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817999" y="13751999"/>
            <a:ext cx="10170000" cy="216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00336B"/>
                </a:solidFill>
                <a:latin typeface="Calibri"/>
              </a:rPr>
              <a:t>  Batch / LR: </a:t>
            </a:r>
            <a:r>
              <a:rPr sz="1800">
                <a:solidFill>
                  <a:srgbClr val="1A1A2E"/>
                </a:solidFill>
                <a:latin typeface="Calibri"/>
              </a:rPr>
              <a:t>256  /  1×10⁻³  (Adam, cosine decay)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817999" y="13982399"/>
            <a:ext cx="10170000" cy="2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00336B"/>
                </a:solidFill>
                <a:latin typeface="Calibri"/>
              </a:rPr>
              <a:t>  Drift consensus: </a:t>
            </a:r>
            <a:r>
              <a:rPr sz="1800">
                <a:solidFill>
                  <a:srgbClr val="1A1A2E"/>
                </a:solidFill>
                <a:latin typeface="Calibri"/>
              </a:rPr>
              <a:t>≥2 / 3 detectors  (ADWIN + Page-Hinkley + MMD)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817999" y="14212799"/>
            <a:ext cx="10170000" cy="216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00336B"/>
                </a:solidFill>
                <a:latin typeface="Calibri"/>
              </a:rPr>
              <a:t>  SHAP threshold τ: </a:t>
            </a:r>
            <a:r>
              <a:rPr sz="1800">
                <a:solidFill>
                  <a:srgbClr val="1A1A2E"/>
                </a:solidFill>
                <a:latin typeface="Calibri"/>
              </a:rPr>
              <a:t>95th-percentile of clean attribution norm distribution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817999" y="14443199"/>
            <a:ext cx="10170000" cy="2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00336B"/>
                </a:solidFill>
                <a:latin typeface="Calibri"/>
              </a:rPr>
              <a:t>  Dataset split: </a:t>
            </a:r>
            <a:r>
              <a:rPr sz="1800">
                <a:solidFill>
                  <a:srgbClr val="1A1A2E"/>
                </a:solidFill>
                <a:latin typeface="Calibri"/>
              </a:rPr>
              <a:t>60% train  /  20% conformal calibration  /  20% test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817999" y="14846399"/>
            <a:ext cx="10170000" cy="324000"/>
          </a:xfrm>
          <a:prstGeom prst="rect">
            <a:avLst/>
          </a:prstGeom>
          <a:solidFill>
            <a:srgbClr val="00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Conclusion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889999" y="15235199"/>
            <a:ext cx="10098000" cy="5960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300" dirty="0">
                <a:solidFill>
                  <a:srgbClr val="1A1A2E"/>
                </a:solidFill>
                <a:latin typeface="Calibri"/>
              </a:rPr>
              <a:t>▸  ARDP is the first pipeline to jointly deliver certified conformal coverage guarantees, real-time adversarial detection via SHAP attribution fingerprinting (AUC = 0.94), and self-healing concept-drift adaptation, all within a single production-grade framework.</a:t>
            </a:r>
          </a:p>
          <a:p>
            <a:pPr>
              <a:spcBef>
                <a:spcPts val="400"/>
              </a:spcBef>
            </a:pPr>
            <a:r>
              <a:rPr sz="2300" dirty="0">
                <a:solidFill>
                  <a:srgbClr val="1A1A2E"/>
                </a:solidFill>
                <a:latin typeface="Calibri"/>
              </a:rPr>
              <a:t>▸  Achieves ≥95% conformal coverage and ≤5% clean-accuracy degradation at ε = 0.1, outperforming all six baselines across every attack family tested on CIC-IDS2018.</a:t>
            </a:r>
          </a:p>
          <a:p>
            <a:pPr>
              <a:spcBef>
                <a:spcPts val="400"/>
              </a:spcBef>
            </a:pPr>
            <a:r>
              <a:rPr sz="2300" dirty="0">
                <a:solidFill>
                  <a:srgbClr val="1A1A2E"/>
                </a:solidFill>
                <a:latin typeface="Calibri"/>
              </a:rPr>
              <a:t>▸  Processes ~12,000 flows/second on a single CPU core; drift-detection consensus adds only &lt;0.3 </a:t>
            </a:r>
            <a:r>
              <a:rPr sz="2300" dirty="0" err="1">
                <a:solidFill>
                  <a:srgbClr val="1A1A2E"/>
                </a:solidFill>
                <a:latin typeface="Calibri"/>
              </a:rPr>
              <a:t>ms</a:t>
            </a:r>
            <a:r>
              <a:rPr sz="2300" dirty="0">
                <a:solidFill>
                  <a:srgbClr val="1A1A2E"/>
                </a:solidFill>
                <a:latin typeface="Calibri"/>
              </a:rPr>
              <a:t> latency per 256-flow micro-batch, well within operational SLA budgets.</a:t>
            </a:r>
          </a:p>
          <a:p>
            <a:pPr>
              <a:spcBef>
                <a:spcPts val="400"/>
              </a:spcBef>
            </a:pPr>
            <a:r>
              <a:rPr sz="2300" dirty="0">
                <a:solidFill>
                  <a:srgbClr val="1A1A2E"/>
                </a:solidFill>
                <a:latin typeface="Calibri"/>
              </a:rPr>
              <a:t>▸  Validated against 15+ adversarial attack types including novel transfer-attack variants not seen during training, confirming strong </a:t>
            </a:r>
            <a:r>
              <a:rPr sz="2300" dirty="0" err="1">
                <a:solidFill>
                  <a:srgbClr val="1A1A2E"/>
                </a:solidFill>
                <a:latin typeface="Calibri"/>
              </a:rPr>
              <a:t>generalisation</a:t>
            </a:r>
            <a:r>
              <a:rPr sz="2300" dirty="0">
                <a:solidFill>
                  <a:srgbClr val="1A1A2E"/>
                </a:solidFill>
                <a:latin typeface="Calibri"/>
              </a:rPr>
              <a:t> beyond the training attack set.</a:t>
            </a:r>
          </a:p>
          <a:p>
            <a:pPr>
              <a:spcBef>
                <a:spcPts val="400"/>
              </a:spcBef>
            </a:pPr>
            <a:r>
              <a:rPr sz="2300" dirty="0">
                <a:solidFill>
                  <a:srgbClr val="1A1A2E"/>
                </a:solidFill>
                <a:latin typeface="Calibri"/>
              </a:rPr>
              <a:t>▸  Open-source implementation on GitHub includes reproducible training scripts, pre-trained checkpoints, Docker deployment stack, and a full </a:t>
            </a:r>
            <a:r>
              <a:rPr sz="2300" dirty="0" err="1">
                <a:solidFill>
                  <a:srgbClr val="1A1A2E"/>
                </a:solidFill>
                <a:latin typeface="Calibri"/>
              </a:rPr>
              <a:t>OpenAPI</a:t>
            </a:r>
            <a:r>
              <a:rPr sz="2300" dirty="0">
                <a:solidFill>
                  <a:srgbClr val="1A1A2E"/>
                </a:solidFill>
                <a:latin typeface="Calibri"/>
              </a:rPr>
              <a:t> 3.0 integration spec.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817999" y="21134879"/>
            <a:ext cx="10170000" cy="324000"/>
          </a:xfrm>
          <a:prstGeom prst="rect">
            <a:avLst/>
          </a:prstGeom>
          <a:solidFill>
            <a:srgbClr val="00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Future Work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889999" y="21523679"/>
            <a:ext cx="10098000" cy="3822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400" dirty="0">
                <a:solidFill>
                  <a:srgbClr val="1A1A2E"/>
                </a:solidFill>
                <a:latin typeface="Calibri"/>
              </a:rPr>
              <a:t>▸  Extend RSCP+ to ℓ∞-norm certified radii via convex-body </a:t>
            </a:r>
            <a:r>
              <a:rPr sz="2400" dirty="0" err="1">
                <a:solidFill>
                  <a:srgbClr val="1A1A2E"/>
                </a:solidFill>
                <a:latin typeface="Calibri"/>
              </a:rPr>
              <a:t>randomised</a:t>
            </a:r>
            <a:r>
              <a:rPr sz="2400" dirty="0">
                <a:solidFill>
                  <a:srgbClr val="1A1A2E"/>
                </a:solidFill>
                <a:latin typeface="Calibri"/>
              </a:rPr>
              <a:t> smoothing for stronger guarantees under PGD-∞ attacks.</a:t>
            </a:r>
          </a:p>
          <a:p>
            <a:pPr>
              <a:spcBef>
                <a:spcPts val="400"/>
              </a:spcBef>
            </a:pPr>
            <a:r>
              <a:rPr sz="2400" dirty="0">
                <a:solidFill>
                  <a:srgbClr val="1A1A2E"/>
                </a:solidFill>
                <a:latin typeface="Calibri"/>
              </a:rPr>
              <a:t>▸  Federated learning across multiple SOCs to enable privacy-preserving, cross-</a:t>
            </a:r>
            <a:r>
              <a:rPr sz="2400" dirty="0" err="1">
                <a:solidFill>
                  <a:srgbClr val="1A1A2E"/>
                </a:solidFill>
                <a:latin typeface="Calibri"/>
              </a:rPr>
              <a:t>organisation</a:t>
            </a:r>
            <a:r>
              <a:rPr sz="2400" dirty="0">
                <a:solidFill>
                  <a:srgbClr val="1A1A2E"/>
                </a:solidFill>
                <a:latin typeface="Calibri"/>
              </a:rPr>
              <a:t> model sharing without exposing raw traffic data.</a:t>
            </a:r>
          </a:p>
          <a:p>
            <a:pPr>
              <a:spcBef>
                <a:spcPts val="400"/>
              </a:spcBef>
            </a:pPr>
            <a:r>
              <a:rPr sz="2400" dirty="0">
                <a:solidFill>
                  <a:srgbClr val="1A1A2E"/>
                </a:solidFill>
                <a:latin typeface="Calibri"/>
              </a:rPr>
              <a:t>▸  Benchmark </a:t>
            </a:r>
            <a:r>
              <a:rPr sz="2400" dirty="0" err="1">
                <a:solidFill>
                  <a:srgbClr val="1A1A2E"/>
                </a:solidFill>
                <a:latin typeface="Calibri"/>
              </a:rPr>
              <a:t>generalisation</a:t>
            </a:r>
            <a:r>
              <a:rPr sz="2400" dirty="0">
                <a:solidFill>
                  <a:srgbClr val="1A1A2E"/>
                </a:solidFill>
                <a:latin typeface="Calibri"/>
              </a:rPr>
              <a:t> on CAIDA Internet Traces and UNSW-NB15 to validate cross-dataset robustness beyond CIC-IDS2018.</a:t>
            </a:r>
          </a:p>
          <a:p>
            <a:pPr>
              <a:spcBef>
                <a:spcPts val="400"/>
              </a:spcBef>
            </a:pPr>
            <a:r>
              <a:rPr sz="2400" dirty="0">
                <a:solidFill>
                  <a:srgbClr val="1A1A2E"/>
                </a:solidFill>
                <a:latin typeface="Calibri"/>
              </a:rPr>
              <a:t>▸  Model distillation targeting &lt;10 </a:t>
            </a:r>
            <a:r>
              <a:rPr sz="2400" dirty="0" err="1">
                <a:solidFill>
                  <a:srgbClr val="1A1A2E"/>
                </a:solidFill>
                <a:latin typeface="Calibri"/>
              </a:rPr>
              <a:t>ms</a:t>
            </a:r>
            <a:r>
              <a:rPr sz="2400" dirty="0">
                <a:solidFill>
                  <a:srgbClr val="1A1A2E"/>
                </a:solidFill>
                <a:latin typeface="Calibri"/>
              </a:rPr>
              <a:t> inference latency at 100,000+ flows/second for large-scale enterprise and carrier-grade deployment.</a:t>
            </a:r>
          </a:p>
          <a:p>
            <a:pPr>
              <a:spcBef>
                <a:spcPts val="400"/>
              </a:spcBef>
            </a:pPr>
            <a:r>
              <a:rPr sz="2400" dirty="0">
                <a:solidFill>
                  <a:srgbClr val="1A1A2E"/>
                </a:solidFill>
                <a:latin typeface="Calibri"/>
              </a:rPr>
              <a:t>▸  Integrate STIX / TAXII threat-intelligence feeds for context-aware dynamic threshold adaptation and automated playbook enrichment.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817999" y="25533599"/>
            <a:ext cx="10170000" cy="324000"/>
          </a:xfrm>
          <a:prstGeom prst="rect">
            <a:avLst/>
          </a:prstGeom>
          <a:solidFill>
            <a:srgbClr val="00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References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817999" y="25922399"/>
            <a:ext cx="8802000" cy="275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i="1" dirty="0">
                <a:solidFill>
                  <a:srgbClr val="333355"/>
                </a:solidFill>
                <a:latin typeface="Calibri"/>
              </a:rPr>
              <a:t>[1] Madry et al. (ICLR 2018) </a:t>
            </a:r>
            <a:r>
              <a:rPr lang="en-US" sz="1700" i="1" dirty="0">
                <a:solidFill>
                  <a:srgbClr val="333355"/>
                </a:solidFill>
                <a:latin typeface="Calibri"/>
              </a:rPr>
              <a:t>-</a:t>
            </a:r>
            <a:r>
              <a:rPr sz="1700" i="1" dirty="0">
                <a:solidFill>
                  <a:srgbClr val="333355"/>
                </a:solidFill>
                <a:latin typeface="Calibri"/>
              </a:rPr>
              <a:t> Towards Deep Learning Models Resistant to Adversarial Attacks</a:t>
            </a:r>
          </a:p>
          <a:p>
            <a:pPr>
              <a:spcBef>
                <a:spcPts val="400"/>
              </a:spcBef>
            </a:pPr>
            <a:r>
              <a:rPr sz="1700" i="1" dirty="0">
                <a:solidFill>
                  <a:srgbClr val="333355"/>
                </a:solidFill>
                <a:latin typeface="Calibri"/>
              </a:rPr>
              <a:t>[2] Zhang et al. (ICML 2019) </a:t>
            </a:r>
            <a:r>
              <a:rPr lang="en-US" sz="1700" i="1" dirty="0">
                <a:solidFill>
                  <a:srgbClr val="333355"/>
                </a:solidFill>
                <a:latin typeface="Calibri"/>
              </a:rPr>
              <a:t>-</a:t>
            </a:r>
            <a:r>
              <a:rPr sz="1700" i="1" dirty="0">
                <a:solidFill>
                  <a:srgbClr val="333355"/>
                </a:solidFill>
                <a:latin typeface="Calibri"/>
              </a:rPr>
              <a:t> TRADES: Theoretically Principled Trade-off for Adversarial Training</a:t>
            </a:r>
          </a:p>
          <a:p>
            <a:pPr>
              <a:spcBef>
                <a:spcPts val="400"/>
              </a:spcBef>
            </a:pPr>
            <a:r>
              <a:rPr sz="1700" i="1" dirty="0">
                <a:solidFill>
                  <a:srgbClr val="333355"/>
                </a:solidFill>
                <a:latin typeface="Calibri"/>
              </a:rPr>
              <a:t>[3] Cohen et al. (ICML 2019) </a:t>
            </a:r>
            <a:r>
              <a:rPr lang="en-US" sz="1700" i="1" dirty="0">
                <a:solidFill>
                  <a:srgbClr val="333355"/>
                </a:solidFill>
                <a:latin typeface="Calibri"/>
              </a:rPr>
              <a:t>-</a:t>
            </a:r>
            <a:r>
              <a:rPr sz="1700" i="1" dirty="0">
                <a:solidFill>
                  <a:srgbClr val="333355"/>
                </a:solidFill>
                <a:latin typeface="Calibri"/>
              </a:rPr>
              <a:t> Certified Adversarial Robustness via Randomized Smoothing</a:t>
            </a:r>
          </a:p>
          <a:p>
            <a:pPr>
              <a:spcBef>
                <a:spcPts val="400"/>
              </a:spcBef>
            </a:pPr>
            <a:r>
              <a:rPr sz="1700" i="1" dirty="0">
                <a:solidFill>
                  <a:srgbClr val="333355"/>
                </a:solidFill>
                <a:latin typeface="Calibri"/>
              </a:rPr>
              <a:t>[4] Lundberg &amp; Lee (</a:t>
            </a:r>
            <a:r>
              <a:rPr sz="1700" i="1" dirty="0" err="1">
                <a:solidFill>
                  <a:srgbClr val="333355"/>
                </a:solidFill>
                <a:latin typeface="Calibri"/>
              </a:rPr>
              <a:t>NeurIPS</a:t>
            </a:r>
            <a:r>
              <a:rPr sz="1700" i="1" dirty="0">
                <a:solidFill>
                  <a:srgbClr val="333355"/>
                </a:solidFill>
                <a:latin typeface="Calibri"/>
              </a:rPr>
              <a:t> 2017) </a:t>
            </a:r>
            <a:r>
              <a:rPr lang="en-US" sz="1700" i="1" dirty="0">
                <a:solidFill>
                  <a:srgbClr val="333355"/>
                </a:solidFill>
                <a:latin typeface="Calibri"/>
              </a:rPr>
              <a:t>-</a:t>
            </a:r>
            <a:r>
              <a:rPr sz="1700" i="1" dirty="0">
                <a:solidFill>
                  <a:srgbClr val="333355"/>
                </a:solidFill>
                <a:latin typeface="Calibri"/>
              </a:rPr>
              <a:t> A Unified Approach to Interpreting Model Predictions (SHAP)</a:t>
            </a:r>
          </a:p>
          <a:p>
            <a:pPr>
              <a:spcBef>
                <a:spcPts val="400"/>
              </a:spcBef>
            </a:pPr>
            <a:r>
              <a:rPr sz="1700" i="1" dirty="0">
                <a:solidFill>
                  <a:srgbClr val="333355"/>
                </a:solidFill>
                <a:latin typeface="Calibri"/>
              </a:rPr>
              <a:t>[5] </a:t>
            </a:r>
            <a:r>
              <a:rPr sz="1700" i="1" dirty="0" err="1">
                <a:solidFill>
                  <a:srgbClr val="333355"/>
                </a:solidFill>
                <a:latin typeface="Calibri"/>
              </a:rPr>
              <a:t>Bifet</a:t>
            </a:r>
            <a:r>
              <a:rPr sz="1700" i="1" dirty="0">
                <a:solidFill>
                  <a:srgbClr val="333355"/>
                </a:solidFill>
                <a:latin typeface="Calibri"/>
              </a:rPr>
              <a:t> &amp; </a:t>
            </a:r>
            <a:r>
              <a:rPr sz="1700" i="1" dirty="0" err="1">
                <a:solidFill>
                  <a:srgbClr val="333355"/>
                </a:solidFill>
                <a:latin typeface="Calibri"/>
              </a:rPr>
              <a:t>Gavalda</a:t>
            </a:r>
            <a:r>
              <a:rPr sz="1700" i="1" dirty="0">
                <a:solidFill>
                  <a:srgbClr val="333355"/>
                </a:solidFill>
                <a:latin typeface="Calibri"/>
              </a:rPr>
              <a:t> (SDM 2007) </a:t>
            </a:r>
            <a:r>
              <a:rPr lang="en-US" sz="1700" i="1" dirty="0">
                <a:solidFill>
                  <a:srgbClr val="333355"/>
                </a:solidFill>
                <a:latin typeface="Calibri"/>
              </a:rPr>
              <a:t>-</a:t>
            </a:r>
            <a:r>
              <a:rPr sz="1700" i="1" dirty="0">
                <a:solidFill>
                  <a:srgbClr val="333355"/>
                </a:solidFill>
                <a:latin typeface="Calibri"/>
              </a:rPr>
              <a:t> Learning from Time-Changing Data with Adaptive Windowing (ADWIN)</a:t>
            </a:r>
          </a:p>
          <a:p>
            <a:pPr>
              <a:spcBef>
                <a:spcPts val="400"/>
              </a:spcBef>
            </a:pPr>
            <a:r>
              <a:rPr sz="1700" i="1" dirty="0">
                <a:solidFill>
                  <a:srgbClr val="333355"/>
                </a:solidFill>
                <a:latin typeface="Calibri"/>
              </a:rPr>
              <a:t>[6] Romano et al. (</a:t>
            </a:r>
            <a:r>
              <a:rPr sz="1700" i="1" dirty="0" err="1">
                <a:solidFill>
                  <a:srgbClr val="333355"/>
                </a:solidFill>
                <a:latin typeface="Calibri"/>
              </a:rPr>
              <a:t>NeurIPS</a:t>
            </a:r>
            <a:r>
              <a:rPr sz="1700" i="1" dirty="0">
                <a:solidFill>
                  <a:srgbClr val="333355"/>
                </a:solidFill>
                <a:latin typeface="Calibri"/>
              </a:rPr>
              <a:t> 2020) </a:t>
            </a:r>
            <a:r>
              <a:rPr lang="en-US" sz="1700" i="1" dirty="0">
                <a:solidFill>
                  <a:srgbClr val="333355"/>
                </a:solidFill>
                <a:latin typeface="Calibri"/>
              </a:rPr>
              <a:t>-</a:t>
            </a:r>
            <a:r>
              <a:rPr sz="1700" i="1" dirty="0">
                <a:solidFill>
                  <a:srgbClr val="333355"/>
                </a:solidFill>
                <a:latin typeface="Calibri"/>
              </a:rPr>
              <a:t> RAPS: Classification with Adaptive Prediction Sets</a:t>
            </a:r>
          </a:p>
          <a:p>
            <a:pPr>
              <a:spcBef>
                <a:spcPts val="400"/>
              </a:spcBef>
            </a:pPr>
            <a:r>
              <a:rPr sz="1700" i="1" dirty="0">
                <a:solidFill>
                  <a:srgbClr val="333355"/>
                </a:solidFill>
                <a:latin typeface="Calibri"/>
              </a:rPr>
              <a:t>[7] CIC-IDS2018 Dataset </a:t>
            </a:r>
            <a:r>
              <a:rPr lang="en-US" sz="1700" i="1" dirty="0">
                <a:solidFill>
                  <a:srgbClr val="333355"/>
                </a:solidFill>
                <a:latin typeface="Calibri"/>
              </a:rPr>
              <a:t>-</a:t>
            </a:r>
            <a:r>
              <a:rPr sz="1700" i="1" dirty="0">
                <a:solidFill>
                  <a:srgbClr val="333355"/>
                </a:solidFill>
                <a:latin typeface="Calibri"/>
              </a:rPr>
              <a:t> Canadian Centre for Cyber Security (CCCS), University of New Brunswick, 2018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9764000" y="25922399"/>
            <a:ext cx="115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336B"/>
                </a:solidFill>
                <a:latin typeface="Calibri"/>
              </a:rPr>
              <a:t>Demo Video Link: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9764000" y="26264399"/>
            <a:ext cx="1152000" cy="1152000"/>
          </a:xfrm>
          <a:prstGeom prst="rect">
            <a:avLst/>
          </a:prstGeom>
          <a:solidFill>
            <a:srgbClr val="FFFFFF"/>
          </a:solidFill>
          <a:ln w="317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rgbClr val="00336B"/>
                </a:solidFill>
                <a:latin typeface="Calibri"/>
              </a:rPr>
              <a:t>QR
Code
Here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29160000"/>
            <a:ext cx="21384000" cy="100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0" y="29260800"/>
            <a:ext cx="21384000" cy="979200"/>
          </a:xfrm>
          <a:prstGeom prst="rect">
            <a:avLst/>
          </a:prstGeom>
          <a:solidFill>
            <a:srgbClr val="00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96000" y="29322000"/>
            <a:ext cx="1243039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Calibri"/>
              </a:rPr>
              <a:t>Name, S</a:t>
            </a:r>
            <a:r>
              <a:rPr sz="2000" b="1" dirty="0">
                <a:solidFill>
                  <a:srgbClr val="FFFFFF"/>
                </a:solidFill>
                <a:latin typeface="Calibri"/>
              </a:rPr>
              <a:t>tudent Reg No,:  </a:t>
            </a:r>
            <a:r>
              <a:rPr lang="en-IN" sz="2000" b="1" dirty="0">
                <a:solidFill>
                  <a:srgbClr val="FFFFFF"/>
                </a:solidFill>
              </a:rPr>
              <a:t>APRAJITA NANDKEULIAR (22BCE0544),PARTH SURI (22BDS0116), SRISHTI RAJ (22BCE2114)</a:t>
            </a:r>
            <a:endParaRPr sz="2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396000" y="29754000"/>
            <a:ext cx="455592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FFFFFF"/>
                </a:solidFill>
                <a:latin typeface="Calibri"/>
              </a:rPr>
              <a:t>Guide Name:  Prof. </a:t>
            </a:r>
            <a:r>
              <a:rPr lang="en-US" sz="2000" b="1" dirty="0">
                <a:solidFill>
                  <a:srgbClr val="FFFFFF"/>
                </a:solidFill>
                <a:latin typeface="Calibri"/>
              </a:rPr>
              <a:t>SIVA SHANMUGAM G</a:t>
            </a:r>
            <a:endParaRPr sz="2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3464000" y="29340000"/>
            <a:ext cx="72000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>
                <a:solidFill>
                  <a:srgbClr val="F5A623"/>
                </a:solidFill>
                <a:latin typeface="Calibri"/>
              </a:rPr>
              <a:t>GitHub: PSURI1894 / Adversarially-resilient-detection-pipelines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3464000" y="29663999"/>
            <a:ext cx="72000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>
                <a:solidFill>
                  <a:srgbClr val="C5D8FF"/>
                </a:solidFill>
                <a:latin typeface="Calibri"/>
              </a:rPr>
              <a:t>Live Demo: http://107.22.150.51/</a:t>
            </a:r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E7731F09-1415-F019-99BA-874B0FFFE2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486" y="243353"/>
            <a:ext cx="1116000" cy="1077847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6E27FE44-5BF0-6A93-C69F-2224A8539F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41499" y="26228399"/>
            <a:ext cx="1246500" cy="13922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1644</Words>
  <Application>Microsoft Office PowerPoint</Application>
  <PresentationFormat>Custom</PresentationFormat>
  <Paragraphs>125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</cp:lastModifiedBy>
  <cp:revision>3</cp:revision>
  <dcterms:created xsi:type="dcterms:W3CDTF">2013-01-27T09:14:16Z</dcterms:created>
  <dcterms:modified xsi:type="dcterms:W3CDTF">2026-04-15T08:21:36Z</dcterms:modified>
  <cp:category/>
</cp:coreProperties>
</file>